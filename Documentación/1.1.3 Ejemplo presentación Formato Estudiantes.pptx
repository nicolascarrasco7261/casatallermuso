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a2mWE6CFKwNDAJuqH0/UxZL4M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principal">
  <p:cSld name="PORTAD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9053" y="1796807"/>
            <a:ext cx="70965" cy="3264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3"/>
          <p:cNvSpPr/>
          <p:nvPr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3"/>
          <p:cNvSpPr/>
          <p:nvPr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1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3"/>
          <p:cNvCxnSpPr/>
          <p:nvPr/>
        </p:nvCxnSpPr>
        <p:spPr>
          <a:xfrm>
            <a:off x="6996223" y="4106486"/>
            <a:ext cx="4114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" name="Google Shape;16;p13"/>
          <p:cNvSpPr txBox="1"/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" name="Google Shape;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8812" y="1206961"/>
            <a:ext cx="3375906" cy="542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1">
  <p:cSld name="INTERIOR 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2" type="body"/>
          </p:nvPr>
        </p:nvSpPr>
        <p:spPr>
          <a:xfrm>
            <a:off x="640715" y="1137571"/>
            <a:ext cx="4930746" cy="553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"/>
          <p:cNvSpPr/>
          <p:nvPr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14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24" name="Google Shape;24;p14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4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" name="Google Shape;26;p14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27" name="Google Shape;27;p14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" name="Google Shape;28;p14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9" name="Google Shape;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714468" y="4342374"/>
            <a:ext cx="119408" cy="423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1">
  <p:cSld name="PORTADA interio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5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5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5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2">
  <p:cSld name="PORTADA interio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6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6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6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2">
  <p:cSld name="INTERIOR 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/>
          <p:nvPr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7"/>
          <p:cNvSpPr/>
          <p:nvPr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5400000">
            <a:off x="10929134" y="3487483"/>
            <a:ext cx="2392160" cy="13357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7"/>
          <p:cNvSpPr txBox="1"/>
          <p:nvPr>
            <p:ph type="title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8" name="Google Shape;48;p17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49" name="Google Shape;49;p17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" name="Google Shape;51;p17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52" name="Google Shape;52;p17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3" name="Google Shape;53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4" name="Google Shape;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414" y="1315256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4">
  <p:cSld name="PORTADA interior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8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8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8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3">
  <p:cSld name="INTERIOR 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/>
          <p:nvPr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9"/>
          <p:cNvSpPr/>
          <p:nvPr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6510853" y="405838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2" type="body"/>
          </p:nvPr>
        </p:nvSpPr>
        <p:spPr>
          <a:xfrm>
            <a:off x="6510853" y="976146"/>
            <a:ext cx="4930746" cy="2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9"/>
          <p:cNvSpPr/>
          <p:nvPr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9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68" name="Google Shape;68;p19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9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" name="Google Shape;70;p19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71" name="Google Shape;71;p19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2" name="Google Shape;72;p19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73" name="Google Shape;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592" y="2244940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3">
  <p:cSld name="PORTADA interior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0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0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0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PA FINAL">
  <p:cSld name="TAPA FINAL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21"/>
          <p:cNvGrpSpPr/>
          <p:nvPr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83" name="Google Shape;8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5" name="Google Shape;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7179" y="2291644"/>
            <a:ext cx="3997641" cy="1296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s-CL">
                <a:latin typeface="Arial"/>
                <a:ea typeface="Arial"/>
                <a:cs typeface="Arial"/>
                <a:sym typeface="Arial"/>
              </a:rPr>
              <a:t>Presentación 1:</a:t>
            </a:r>
            <a:br>
              <a:rPr lang="es-CL"/>
            </a:br>
            <a:endParaRPr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6937285" y="4305507"/>
            <a:ext cx="43563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lang="es-CL" sz="2700"/>
              <a:t>Casa Taller Muso</a:t>
            </a:r>
            <a:endParaRPr sz="1900"/>
          </a:p>
        </p:txBody>
      </p:sp>
      <p:sp>
        <p:nvSpPr>
          <p:cNvPr id="92" name="Google Shape;92;p1"/>
          <p:cNvSpPr txBox="1"/>
          <p:nvPr/>
        </p:nvSpPr>
        <p:spPr>
          <a:xfrm>
            <a:off x="6030700" y="5411925"/>
            <a:ext cx="5478300" cy="8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900">
                <a:solidFill>
                  <a:schemeClr val="lt1"/>
                </a:solidFill>
              </a:rPr>
              <a:t>Integrantes: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lt1"/>
                </a:solidFill>
              </a:rPr>
              <a:t>Camilo Poblete - Vicente Riquelme - Nicolás Carrasco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7965" lvl="0" marL="22796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s-CL">
                <a:latin typeface="Arial"/>
                <a:ea typeface="Arial"/>
                <a:cs typeface="Arial"/>
                <a:sym typeface="Arial"/>
              </a:rPr>
              <a:t>Indice/agenda</a:t>
            </a:r>
            <a:endParaRPr/>
          </a:p>
        </p:txBody>
      </p:sp>
      <p:sp>
        <p:nvSpPr>
          <p:cNvPr id="98" name="Google Shape;98;p2"/>
          <p:cNvSpPr txBox="1"/>
          <p:nvPr>
            <p:ph idx="2" type="body"/>
          </p:nvPr>
        </p:nvSpPr>
        <p:spPr>
          <a:xfrm>
            <a:off x="640715" y="1137570"/>
            <a:ext cx="6555952" cy="3180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7965" lvl="0" marL="22796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s-CL" sz="2800"/>
              <a:t>Contexto del Proyecto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/>
              <a:t>2</a:t>
            </a:r>
            <a:r>
              <a:rPr lang="es-CL" sz="2800">
                <a:latin typeface="Arial"/>
                <a:ea typeface="Arial"/>
                <a:cs typeface="Arial"/>
                <a:sym typeface="Arial"/>
              </a:rPr>
              <a:t>. Metodología.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/>
              <a:t>3</a:t>
            </a:r>
            <a:r>
              <a:rPr lang="es-CL" sz="2800">
                <a:latin typeface="Arial"/>
                <a:ea typeface="Arial"/>
                <a:cs typeface="Arial"/>
                <a:sym typeface="Arial"/>
              </a:rPr>
              <a:t>. Descripción técnica de la solución.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/>
              <a:t>4</a:t>
            </a:r>
            <a:r>
              <a:rPr lang="es-CL" sz="2800">
                <a:latin typeface="Arial"/>
                <a:ea typeface="Arial"/>
                <a:cs typeface="Arial"/>
                <a:sym typeface="Arial"/>
              </a:rPr>
              <a:t>. Documentación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i="1" lang="es-CL"/>
              <a:t>Contexto del Proyecto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654673" y="551050"/>
            <a:ext cx="5697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Contexto del Proyecto</a:t>
            </a:r>
            <a:endParaRPr/>
          </a:p>
        </p:txBody>
      </p:sp>
      <p:sp>
        <p:nvSpPr>
          <p:cNvPr id="109" name="Google Shape;109;p4"/>
          <p:cNvSpPr txBox="1"/>
          <p:nvPr>
            <p:ph idx="2" type="body"/>
          </p:nvPr>
        </p:nvSpPr>
        <p:spPr>
          <a:xfrm>
            <a:off x="654665" y="1477895"/>
            <a:ext cx="6555900" cy="3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La Casa Taller Muso es un centro cultural que ofrece cursos y realiza eventos relacionados con la cultura. Además ofrece el servicio de préstamo de libros.</a:t>
            </a:r>
            <a:endParaRPr sz="1700"/>
          </a:p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700"/>
          </a:p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Este centro cultural ha estado operando principalmente mediante RRSS y Google Forms, lo cual ha creado cuellos de botella importantes al aumentar el tráfico.</a:t>
            </a:r>
            <a:endParaRPr sz="1700"/>
          </a:p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700"/>
          </a:p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Junto con la Casa Taller Muso, nos hemos impuesto como </a:t>
            </a:r>
            <a:r>
              <a:rPr b="1" lang="es-CL" sz="1700"/>
              <a:t>objetivo general </a:t>
            </a:r>
            <a:r>
              <a:rPr lang="es-CL" sz="1700"/>
              <a:t>desarrollar una aplicación web que permita automatizar tareas básicas, </a:t>
            </a:r>
            <a:r>
              <a:rPr b="1" lang="es-CL" sz="1700"/>
              <a:t>específicamente </a:t>
            </a:r>
            <a:r>
              <a:rPr lang="es-CL" sz="1700"/>
              <a:t>el registro de usuarios, reservas, inscripciones a cursos y eventos, y prestamo de libros.</a:t>
            </a:r>
            <a:endParaRPr sz="1700"/>
          </a:p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700"/>
          </a:p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700"/>
          </a:p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700"/>
          </a:p>
          <a:p>
            <a:pPr indent="-1396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i="1" lang="es-CL"/>
              <a:t>Metodología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idx="4294967295" type="body"/>
          </p:nvPr>
        </p:nvSpPr>
        <p:spPr>
          <a:xfrm>
            <a:off x="5140740" y="1508845"/>
            <a:ext cx="6555900" cy="3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694" lvl="0" marL="228594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Este proyecto se llevará a cabo aplicando la metodología </a:t>
            </a:r>
            <a:r>
              <a:rPr lang="es-CL" sz="1700"/>
              <a:t>ágil </a:t>
            </a:r>
            <a:r>
              <a:rPr lang="es-CL" sz="1700"/>
              <a:t>Scrum, entendiendo el desarrollo de software como un proceso iterativo e incremental.</a:t>
            </a:r>
            <a:endParaRPr sz="1700"/>
          </a:p>
          <a:p>
            <a:pPr indent="-139694" lvl="0" marL="228594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700"/>
          </a:p>
          <a:p>
            <a:pPr indent="-139694" lvl="0" marL="228594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Dividiremos el proyecto en etapas (Sprints) con reuniones regulares para coordinar el trabajo y rendir cuentas </a:t>
            </a:r>
            <a:r>
              <a:rPr lang="es-CL" sz="1700"/>
              <a:t>periódicamente</a:t>
            </a:r>
            <a:r>
              <a:rPr lang="es-CL" sz="1700"/>
              <a:t>.</a:t>
            </a:r>
            <a:endParaRPr sz="1700"/>
          </a:p>
          <a:p>
            <a:pPr indent="-139694" lvl="0" marL="228594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700"/>
          </a:p>
          <a:p>
            <a:pPr indent="-139694" lvl="0" marL="228594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Cada miembro del grupo tendrá un rol (PO, SM, Dev), con obligaciones y quehaceres para asegurar el correcto desarrollo del proyecto.</a:t>
            </a:r>
            <a:endParaRPr sz="1700"/>
          </a:p>
        </p:txBody>
      </p:sp>
      <p:sp>
        <p:nvSpPr>
          <p:cNvPr id="120" name="Google Shape;120;p6"/>
          <p:cNvSpPr txBox="1"/>
          <p:nvPr>
            <p:ph idx="1" type="body"/>
          </p:nvPr>
        </p:nvSpPr>
        <p:spPr>
          <a:xfrm>
            <a:off x="5140750" y="582000"/>
            <a:ext cx="6555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>
                <a:solidFill>
                  <a:schemeClr val="dk1"/>
                </a:solidFill>
              </a:rPr>
              <a:t>Metodología Scrum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1" name="Google Shape;12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200" y="1978900"/>
            <a:ext cx="2900175" cy="2900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i="1" lang="es-CL"/>
              <a:t>Descripción Técnica de la Solución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idx="1" type="body"/>
          </p:nvPr>
        </p:nvSpPr>
        <p:spPr>
          <a:xfrm>
            <a:off x="4021973" y="405850"/>
            <a:ext cx="74058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Descripción Técnica de la Solución</a:t>
            </a:r>
            <a:endParaRPr/>
          </a:p>
        </p:txBody>
      </p:sp>
      <p:sp>
        <p:nvSpPr>
          <p:cNvPr id="132" name="Google Shape;132;p8"/>
          <p:cNvSpPr txBox="1"/>
          <p:nvPr>
            <p:ph idx="2" type="body"/>
          </p:nvPr>
        </p:nvSpPr>
        <p:spPr>
          <a:xfrm>
            <a:off x="4754200" y="1144725"/>
            <a:ext cx="6687300" cy="43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Se tratará de una solución de microservicios desplegable en la nube; para este fin se usarán herramientas de hosting web, como Supabase para bases de datos relacionales, GitHub Pages para sitios web estáticos, y Heroku para el API backend.</a:t>
            </a:r>
            <a:endParaRPr sz="1700"/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700"/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700"/>
              <a:t>Se utilizarán los siguientes frameworks:</a:t>
            </a:r>
            <a:endParaRPr sz="1700"/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700"/>
          </a:p>
          <a:p>
            <a:pPr indent="0" lvl="0" marL="45720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/>
              <a:t>Frontend - React (JSX + CSS)</a:t>
            </a:r>
            <a:endParaRPr sz="1700"/>
          </a:p>
          <a:p>
            <a:pPr indent="0" lvl="0" marL="45720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/>
              <a:t>Backend - Spring Boot (Java)</a:t>
            </a:r>
            <a:endParaRPr sz="1700"/>
          </a:p>
          <a:p>
            <a:pPr indent="0" lvl="0" marL="45720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/>
              <a:t>Además, durante el desarrollo se usará Git para control de versiones y GitHub para la mantención de un repositorio de código remoto. También se </a:t>
            </a:r>
            <a:r>
              <a:rPr lang="es-CL" sz="1700"/>
              <a:t>usarán</a:t>
            </a:r>
            <a:r>
              <a:rPr lang="es-CL" sz="1700"/>
              <a:t> plataformas como Canva (para realizar mockups) y Discord (comunicación).</a:t>
            </a:r>
            <a:endParaRPr sz="1700"/>
          </a:p>
        </p:txBody>
      </p:sp>
      <p:pic>
        <p:nvPicPr>
          <p:cNvPr id="133" name="Google Shape;13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8963" y="969400"/>
            <a:ext cx="2253200" cy="232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8975" y="3576500"/>
            <a:ext cx="1507824" cy="150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6800" y="3383524"/>
            <a:ext cx="807375" cy="7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6800" y="4276950"/>
            <a:ext cx="807375" cy="8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>
            <p:ph type="title"/>
          </p:nvPr>
        </p:nvSpPr>
        <p:spPr>
          <a:xfrm>
            <a:off x="8157350" y="2752725"/>
            <a:ext cx="34548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i="1" lang="es-CL"/>
              <a:t>Documentación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3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/>
              <a:t>Documentación</a:t>
            </a:r>
            <a:endParaRPr/>
          </a:p>
        </p:txBody>
      </p:sp>
      <p:sp>
        <p:nvSpPr>
          <p:cNvPr id="147" name="Google Shape;147;p10"/>
          <p:cNvSpPr txBox="1"/>
          <p:nvPr>
            <p:ph idx="2" type="body"/>
          </p:nvPr>
        </p:nvSpPr>
        <p:spPr>
          <a:xfrm>
            <a:off x="640725" y="1137575"/>
            <a:ext cx="6423600" cy="22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-CL" sz="1700"/>
              <a:t>Documento de Definición e Identificación del Proyecto</a:t>
            </a:r>
            <a:endParaRPr sz="170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-CL" sz="1700"/>
              <a:t>Carta Gantt</a:t>
            </a:r>
            <a:endParaRPr sz="170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-CL" sz="1700"/>
              <a:t>Historias de Usuario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2024-03-07T18:55:37Z</dcterms:created>
  <dc:creator>Daniela Osorio C.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